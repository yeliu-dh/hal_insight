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5" r:id="rId6"/>
    <p:sldId id="264" r:id="rId7"/>
    <p:sldId id="261" r:id="rId8"/>
    <p:sldId id="266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38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0CB57-6EEB-481E-09F0-A97825EF0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D03FA2-DFAF-3DE5-18B3-798E0DD4E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3D2C2-6B26-D618-528E-3436F9E6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A6288D-667C-6599-0296-5EE38F37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D241A-EACD-F098-EEB7-3320DA4E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8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A94F0-50F2-3864-E236-C49E2D1F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1F5F4-9025-D153-43E6-287A3187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63927-423D-5991-A487-6123CF09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D5F6C5-75B5-5054-F783-0B2E3D78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BED7C-BAF3-BE8E-D27A-E9FB8ADC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17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389C1-91BE-E0CC-F1F8-FA9717D3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4831A2-9EEC-31ED-5A41-F47D5FA46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73780-CBA6-4895-32A8-5D0F721D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05FA5-7289-19F7-DA0C-A99DDBC2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4BCEE-E27A-E46C-2618-3A6E7AF9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01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20152-7383-59A0-1078-885C81C3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9C5B8F-C1DE-C16B-2916-D6F5ABAB3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60FBAF-4D97-0E48-D3A4-8A21414A2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A0B520-297C-BA74-6129-5D144FC7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0C24D6-1B4D-F81F-88D6-C33D9891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7AC78-3D0C-1CEC-F732-E9C7997E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06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84883-9EC1-2DF3-FF27-063C6F79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C9620D-89EE-E10B-8430-A16871FCA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B023CA-248E-7952-9863-A412E62C2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17A83A-F94C-4709-65DF-F0DC10BF9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F20F9A-5ABC-1A59-5974-332FAE0EE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61768C-D24F-0F57-D894-C1020CEB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26CE47-3DEC-AB61-3772-37699EF2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D4C4A7-74C2-E437-DCD2-5FED197B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2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B4DBE-061E-AEFD-3A00-1E0E7CD7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0578D2-3CE8-F2D4-F7CD-21BB0BDC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2A4BAA-82AE-57C9-1961-22FF0CD8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7F420-5947-F88D-93C8-1B196BD0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54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4677F6-36BF-C454-48AA-2CEA519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D3BF28-C90D-C40A-2964-36398078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18FCA-58AB-DA1B-C9B8-B8B11BDA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30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2D808-D35E-4C41-2E32-D42AE843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D65D3-7B02-DAE3-9805-45BCEE8E8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84C66D-23E9-02CE-601A-77426B301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6245A-D103-A651-68B4-F883BCDB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12D199-EA70-44BB-8A73-A9BA6CD9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29D47-B3A4-5A23-D3A8-0FC70760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92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2087C-A96E-FF30-8B69-7825601B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917137-E9AE-F30F-E03F-06A7CBAA0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18653A-996A-7694-D88A-D504C1D3B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D0C502-5E0D-B8C1-7773-719697CA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82285B-7731-CF3B-6DA9-0173ACE3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BC41DE-CB80-32BC-3FBC-6BB6A9EC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7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1CAE7-F3A6-7736-674E-74C79BD7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359CA6-5AD1-9FA9-5C47-F638CE1BB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743878-C4E6-2A19-B54D-948CADB6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1D269C-EA86-D697-3A9D-1977CC3A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7CB6F-A033-1A60-1816-1E4F06EE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87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C1236D-05D3-C022-3FF1-E302EB320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259394-4022-4512-25F4-715EC29DE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745FC-2A20-6CEB-465E-0B18795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6B76B-47BD-8274-3517-3C6CA30B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F40FA-2147-7F46-6DD0-9DAE5044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3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AD596C-0B80-43D8-9A9B-C5425D85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8C8242-AE2A-C206-4DEE-7A516C334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69F5D-BB67-5CBF-51C9-9A03B83A4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445FB-074D-4065-895E-515311F57E6B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9473B-35DF-1D6E-50B3-EF5E7FE38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9F10A-C481-7A75-AFBE-722044990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1AF73-2C79-4CE2-A145-47F750F5D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BADF9-1EB0-1FC3-CD2C-60A7B38A9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17557"/>
          </a:xfrm>
        </p:spPr>
        <p:txBody>
          <a:bodyPr>
            <a:normAutofit fontScale="90000"/>
          </a:bodyPr>
          <a:lstStyle/>
          <a:p>
            <a:r>
              <a:rPr lang="fr-FR" altLang="zh-CN" dirty="0"/>
              <a:t>Classification des axes thématique pour la production scientifique d’IRG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B48DC4-CF55-3EA8-E0AF-828A60023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7600"/>
            <a:ext cx="9144000" cy="695960"/>
          </a:xfrm>
        </p:spPr>
        <p:txBody>
          <a:bodyPr/>
          <a:lstStyle/>
          <a:p>
            <a:r>
              <a:rPr lang="fr-FR" altLang="zh-CN" dirty="0"/>
              <a:t>Ye LIU Jan.2026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09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162B3-AB00-FF3F-5462-124935C4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/>
              <a:t>Axe thématique d’IRG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BB9E14E-F0BF-57B2-62BF-C47ED77BA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11176000" cy="52831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fr-FR" altLang="zh-CN" sz="2400" b="1" dirty="0"/>
              <a:t>AXE1: </a:t>
            </a:r>
            <a:r>
              <a:rPr lang="fr-FR" altLang="zh-CN" sz="2400" dirty="0"/>
              <a:t>Performances et </a:t>
            </a:r>
            <a:r>
              <a:rPr lang="fr-FR" altLang="zh-CN" sz="2400" dirty="0" err="1"/>
              <a:t>responsabilit</a:t>
            </a:r>
            <a:r>
              <a:rPr lang="zh-CN" altLang="zh-CN" sz="2400" dirty="0"/>
              <a:t>é</a:t>
            </a:r>
            <a:r>
              <a:rPr lang="fr-FR" altLang="zh-CN" sz="2400" dirty="0"/>
              <a:t>s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fr-FR" altLang="zh-CN" sz="2400" b="1" dirty="0"/>
              <a:t>AXE2: </a:t>
            </a:r>
            <a:r>
              <a:rPr lang="fr-FR" altLang="zh-CN" sz="2400" dirty="0" err="1"/>
              <a:t>Soci</a:t>
            </a:r>
            <a:r>
              <a:rPr lang="zh-CN" altLang="zh-CN" sz="2400" dirty="0"/>
              <a:t>é</a:t>
            </a:r>
            <a:r>
              <a:rPr lang="fr-FR" altLang="zh-CN" sz="2400" dirty="0"/>
              <a:t>t</a:t>
            </a:r>
            <a:r>
              <a:rPr lang="zh-CN" altLang="zh-CN" sz="2400" dirty="0"/>
              <a:t>é</a:t>
            </a:r>
            <a:r>
              <a:rPr lang="fr-FR" altLang="zh-CN" sz="2400" dirty="0"/>
              <a:t> de services et services </a:t>
            </a:r>
            <a:r>
              <a:rPr lang="zh-CN" altLang="zh-CN" sz="2400" dirty="0"/>
              <a:t>à</a:t>
            </a:r>
            <a:r>
              <a:rPr lang="fr-FR" altLang="zh-CN" sz="2400" dirty="0"/>
              <a:t> la </a:t>
            </a:r>
            <a:r>
              <a:rPr lang="fr-FR" altLang="zh-CN" sz="2400" dirty="0" err="1"/>
              <a:t>soci</a:t>
            </a:r>
            <a:r>
              <a:rPr lang="zh-CN" altLang="zh-CN" sz="2400" dirty="0"/>
              <a:t>é</a:t>
            </a:r>
            <a:r>
              <a:rPr lang="fr-FR" altLang="zh-CN" sz="2400" dirty="0"/>
              <a:t>t</a:t>
            </a:r>
            <a:r>
              <a:rPr lang="zh-CN" altLang="zh-CN" sz="2400" dirty="0"/>
              <a:t>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altLang="zh-CN" sz="2400" b="1" dirty="0"/>
              <a:t>AXE3: </a:t>
            </a:r>
            <a:r>
              <a:rPr lang="fr-FR" altLang="zh-CN" sz="2400" dirty="0"/>
              <a:t>Innovations, transformations et r</a:t>
            </a:r>
            <a:r>
              <a:rPr lang="zh-CN" altLang="zh-CN" sz="2400" dirty="0"/>
              <a:t>é</a:t>
            </a:r>
            <a:r>
              <a:rPr lang="fr-FR" altLang="zh-CN" sz="2400" dirty="0" err="1"/>
              <a:t>sistances</a:t>
            </a:r>
            <a:r>
              <a:rPr lang="fr-FR" altLang="zh-CN" sz="2400" dirty="0"/>
              <a:t> organisationnelles et </a:t>
            </a:r>
            <a:r>
              <a:rPr lang="fr-FR" altLang="zh-CN" sz="2400" dirty="0" err="1"/>
              <a:t>soci</a:t>
            </a:r>
            <a:r>
              <a:rPr lang="zh-CN" altLang="zh-CN" sz="2400" dirty="0"/>
              <a:t>é</a:t>
            </a:r>
            <a:r>
              <a:rPr lang="fr-FR" altLang="zh-CN" sz="2400" dirty="0"/>
              <a:t>tales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fr-FR" altLang="zh-CN" sz="2400" b="1" dirty="0"/>
              <a:t>AXE4: </a:t>
            </a:r>
            <a:r>
              <a:rPr lang="fr-FR" altLang="zh-CN" sz="2400" dirty="0"/>
              <a:t>Ouvrages p</a:t>
            </a:r>
            <a:r>
              <a:rPr lang="zh-CN" altLang="zh-CN" sz="2400" dirty="0"/>
              <a:t>é</a:t>
            </a:r>
            <a:r>
              <a:rPr lang="fr-FR" altLang="zh-CN" sz="2400" dirty="0" err="1"/>
              <a:t>dagogiques</a:t>
            </a:r>
            <a:endParaRPr lang="zh-CN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28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C8C1-2FDD-34B1-810E-E5DD49C5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5D5C6-7554-1045-EFA2-7EB52C52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73615" cy="1325563"/>
          </a:xfrm>
        </p:spPr>
        <p:txBody>
          <a:bodyPr/>
          <a:lstStyle/>
          <a:p>
            <a:r>
              <a:rPr lang="fr-FR" altLang="zh-CN" b="1" dirty="0"/>
              <a:t>Attentes: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6FF80-D58D-2B38-1BEF-CDA7F8C4E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fr-FR" altLang="zh-CN" dirty="0"/>
              <a:t>Besoin de compléter automatiquement les métadonnées </a:t>
            </a:r>
          </a:p>
          <a:p>
            <a:r>
              <a:rPr lang="fr-FR" altLang="zh-CN" dirty="0"/>
              <a:t>Identifier les thèmes plus spécifiques sous chaque axe et les liens entre les axes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78F09828-26B1-E179-45D7-BCBEFEDB8507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5539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zh-CN" b="1" dirty="0" err="1"/>
              <a:t>Defis</a:t>
            </a:r>
            <a:r>
              <a:rPr lang="fr-FR" altLang="zh-CN" b="1" dirty="0"/>
              <a:t> :</a:t>
            </a:r>
            <a:endParaRPr lang="zh-CN" altLang="en-US" b="1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30AFF1E-6751-A0EF-97D6-C469886614B7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539152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b="1" dirty="0"/>
              <a:t>Manque : </a:t>
            </a:r>
            <a:r>
              <a:rPr lang="fr-FR" altLang="zh-CN" dirty="0"/>
              <a:t>20 % des données sont manquantes pour les axes.</a:t>
            </a:r>
          </a:p>
          <a:p>
            <a:r>
              <a:rPr lang="fr-FR" altLang="zh-CN" b="1" dirty="0" err="1"/>
              <a:t>Mutlilabel</a:t>
            </a:r>
            <a:r>
              <a:rPr lang="fr-FR" altLang="zh-CN" dirty="0"/>
              <a:t> : Certaines observations appartiennent à plusieurs axes simultanément</a:t>
            </a:r>
          </a:p>
          <a:p>
            <a:r>
              <a:rPr lang="en-US" altLang="zh-CN" b="1" dirty="0"/>
              <a:t>Forte imbalance</a:t>
            </a:r>
            <a:r>
              <a:rPr lang="en-US" altLang="zh-CN" dirty="0"/>
              <a:t> : axe3 = 42 %, axe1 = 26 %, axe4= 10%</a:t>
            </a:r>
            <a:endParaRPr lang="fr-FR" altLang="zh-CN" b="1" dirty="0"/>
          </a:p>
          <a:p>
            <a:r>
              <a:rPr lang="fr-FR" altLang="zh-CN" b="1" dirty="0"/>
              <a:t>Similarité sémantique : </a:t>
            </a:r>
            <a:r>
              <a:rPr lang="fr-FR" altLang="zh-CN" dirty="0"/>
              <a:t>issus de même domaine: gestion</a:t>
            </a:r>
          </a:p>
          <a:p>
            <a:pPr marL="0" indent="0">
              <a:buNone/>
            </a:pPr>
            <a:endParaRPr lang="fr-FR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fr-FR" altLang="zh-CN" dirty="0"/>
          </a:p>
        </p:txBody>
      </p:sp>
    </p:spTree>
    <p:extLst>
      <p:ext uri="{BB962C8B-B14F-4D97-AF65-F5344CB8AC3E}">
        <p14:creationId xmlns:p14="http://schemas.microsoft.com/office/powerpoint/2010/main" val="114462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8FB63-5123-3AA6-BC13-34F495A2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/>
              <a:t>Jeu de données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2AC1B-6F7B-5F95-F56A-5428DBFE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Source : HAL </a:t>
            </a:r>
          </a:p>
          <a:p>
            <a:r>
              <a:rPr lang="fr-FR" altLang="zh-CN" dirty="0"/>
              <a:t>Période : avant 2024</a:t>
            </a:r>
          </a:p>
          <a:p>
            <a:r>
              <a:rPr lang="en-US" altLang="zh-CN" dirty="0"/>
              <a:t>2486</a:t>
            </a:r>
            <a:r>
              <a:rPr lang="fr-FR" altLang="zh-CN" dirty="0"/>
              <a:t> articles au total, dont </a:t>
            </a:r>
            <a:r>
              <a:rPr lang="en-US" altLang="zh-CN" dirty="0"/>
              <a:t>2021</a:t>
            </a:r>
            <a:r>
              <a:rPr lang="fr-FR" altLang="zh-CN" dirty="0"/>
              <a:t> ont au moins un axe</a:t>
            </a:r>
            <a:endParaRPr lang="zh-CN" altLang="zh-CN" dirty="0"/>
          </a:p>
          <a:p>
            <a:endParaRPr lang="fr-FR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30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9C91-AD5A-380C-FBE8-699BFE36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8AF70-E95C-A7A8-82FA-523DC347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Traitement du texte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B960B-2401-C97C-E228-48DBAE30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 err="1"/>
              <a:t>Embeddings</a:t>
            </a:r>
            <a:r>
              <a:rPr lang="fr-FR" altLang="zh-CN" dirty="0"/>
              <a:t> :</a:t>
            </a:r>
          </a:p>
          <a:p>
            <a:pPr marL="0" indent="0">
              <a:buNone/>
            </a:pPr>
            <a:r>
              <a:rPr lang="fr-FR" altLang="zh-CN" dirty="0" err="1"/>
              <a:t>Embedder</a:t>
            </a:r>
            <a:r>
              <a:rPr lang="fr-FR" altLang="zh-CN" dirty="0"/>
              <a:t> </a:t>
            </a:r>
            <a:r>
              <a:rPr lang="fr-FR" altLang="zh-CN" dirty="0" err="1"/>
              <a:t>séparement</a:t>
            </a:r>
            <a:r>
              <a:rPr lang="fr-FR" altLang="zh-CN" dirty="0"/>
              <a:t> le titre, les mots-clés, les résumés p</a:t>
            </a:r>
            <a:r>
              <a:rPr lang="en-US" altLang="zh-CN" dirty="0" err="1"/>
              <a:t>ar</a:t>
            </a:r>
            <a:r>
              <a:rPr lang="fr-FR" altLang="zh-CN" dirty="0"/>
              <a:t> le modèle  et ajouter un vecteur qui indique la source du texte</a:t>
            </a:r>
          </a:p>
          <a:p>
            <a:pPr marL="0" indent="0">
              <a:buNone/>
            </a:pPr>
            <a:r>
              <a:rPr lang="fr-FR" altLang="zh-CN" dirty="0"/>
              <a:t> </a:t>
            </a:r>
          </a:p>
          <a:p>
            <a:pPr marL="0" indent="0">
              <a:buNone/>
            </a:pPr>
            <a:r>
              <a:rPr lang="fr-FR" altLang="zh-CN" dirty="0"/>
              <a:t>Les 3 colon</a:t>
            </a:r>
            <a:r>
              <a:rPr lang="en-US" altLang="zh-CN" dirty="0"/>
              <a:t>n</a:t>
            </a:r>
            <a:r>
              <a:rPr lang="fr-FR" altLang="zh-CN" dirty="0"/>
              <a:t>es ne sont pas tous disponible dans les articles;</a:t>
            </a:r>
          </a:p>
          <a:p>
            <a:pPr marL="0" indent="0">
              <a:buNone/>
            </a:pPr>
            <a:r>
              <a:rPr lang="fr-FR" altLang="zh-CN" dirty="0"/>
              <a:t>Chaque texte est traité comme un exemple distinct. Cette approche permet d’augmenter le nombre d’exemples d’apprentissage et de conserver des signaux sémantiques plus spécifiques.</a:t>
            </a:r>
            <a:endParaRPr lang="zh-CN" altLang="zh-CN" dirty="0"/>
          </a:p>
          <a:p>
            <a:pPr marL="0" indent="0">
              <a:buNone/>
            </a:pPr>
            <a:endParaRPr lang="fr-FR" altLang="zh-CN" dirty="0"/>
          </a:p>
          <a:p>
            <a:pPr marL="0" indent="0">
              <a:buNone/>
            </a:pPr>
            <a:endParaRPr lang="fr-FR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450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E124-BEA1-B823-CD95-C4F25DBD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5965D-F06B-20FC-5BAF-BECD27BB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91000" cy="1325563"/>
          </a:xfrm>
        </p:spPr>
        <p:txBody>
          <a:bodyPr/>
          <a:lstStyle/>
          <a:p>
            <a:r>
              <a:rPr lang="fr-FR" altLang="zh-CN" dirty="0"/>
              <a:t>MLP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01091A-9765-9D4F-F2C5-67F891D4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104"/>
            <a:ext cx="10683240" cy="5154295"/>
          </a:xfrm>
        </p:spPr>
        <p:txBody>
          <a:bodyPr>
            <a:normAutofit/>
          </a:bodyPr>
          <a:lstStyle/>
          <a:p>
            <a:r>
              <a:rPr lang="fr-FR" altLang="zh-CN" b="1" dirty="0"/>
              <a:t>Données entrées: </a:t>
            </a:r>
            <a:r>
              <a:rPr lang="fr-FR" altLang="zh-CN" dirty="0"/>
              <a:t> Train : 3626 </a:t>
            </a:r>
            <a:r>
              <a:rPr lang="fr-FR" altLang="zh-CN" dirty="0" err="1"/>
              <a:t>embeddings</a:t>
            </a:r>
            <a:r>
              <a:rPr lang="fr-FR" altLang="zh-CN" dirty="0"/>
              <a:t> , 1025+3 dimensions</a:t>
            </a:r>
          </a:p>
          <a:p>
            <a:pPr marL="0" indent="0">
              <a:buNone/>
            </a:pPr>
            <a:r>
              <a:rPr lang="fr-FR" altLang="zh-CN" dirty="0"/>
              <a:t> </a:t>
            </a:r>
            <a:endParaRPr lang="fr-FR" altLang="zh-CN" b="1" dirty="0"/>
          </a:p>
          <a:p>
            <a:r>
              <a:rPr lang="fr-FR" altLang="zh-CN" b="1" dirty="0"/>
              <a:t>Sampler : </a:t>
            </a:r>
            <a:r>
              <a:rPr lang="fr-FR" altLang="zh-CN" i="1" dirty="0"/>
              <a:t>permet de montrer plus souvent au modèle les exemples des classes rares pendant l’entraînement.</a:t>
            </a:r>
            <a:endParaRPr lang="fr-FR" altLang="zh-CN" dirty="0"/>
          </a:p>
          <a:p>
            <a:r>
              <a:rPr lang="fr-FR" altLang="zh-CN" b="1" dirty="0" err="1"/>
              <a:t>Multilabel</a:t>
            </a:r>
            <a:r>
              <a:rPr lang="fr-FR" altLang="zh-CN" b="1" dirty="0"/>
              <a:t> </a:t>
            </a:r>
            <a:r>
              <a:rPr lang="fr-FR" altLang="zh-CN" b="1" dirty="0" err="1"/>
              <a:t>mlp</a:t>
            </a:r>
            <a:r>
              <a:rPr lang="fr-FR" altLang="zh-CN" b="1" dirty="0"/>
              <a:t>: </a:t>
            </a:r>
            <a:r>
              <a:rPr lang="fr-FR" altLang="zh-CN" i="1" dirty="0"/>
              <a:t>apprend une représentation commune pour prédire plusieurs catégories en même temps.</a:t>
            </a:r>
            <a:endParaRPr lang="fr-FR" altLang="zh-CN" dirty="0"/>
          </a:p>
          <a:p>
            <a:r>
              <a:rPr lang="fr-FR" altLang="zh-CN" b="1" dirty="0" err="1"/>
              <a:t>Focalloss</a:t>
            </a:r>
            <a:r>
              <a:rPr lang="fr-FR" altLang="zh-CN" b="1" dirty="0"/>
              <a:t> : </a:t>
            </a:r>
            <a:r>
              <a:rPr lang="fr-FR" altLang="zh-CN" i="1" dirty="0"/>
              <a:t>force le modèle à se concentrer davantage sur les exemples difficiles et les classes rares.</a:t>
            </a:r>
            <a:endParaRPr lang="fr-FR" altLang="zh-CN" dirty="0"/>
          </a:p>
          <a:p>
            <a:r>
              <a:rPr lang="fr-FR" altLang="zh-CN" b="1" dirty="0"/>
              <a:t>Seuil optimisé: </a:t>
            </a:r>
            <a:r>
              <a:rPr lang="en-US" altLang="zh-CN" dirty="0"/>
              <a:t>S</a:t>
            </a:r>
            <a:r>
              <a:rPr lang="fr-FR" altLang="zh-CN" dirty="0"/>
              <a:t>électionné par l’approche ‘out of </a:t>
            </a:r>
            <a:r>
              <a:rPr lang="fr-FR" altLang="zh-CN" dirty="0" err="1"/>
              <a:t>fold</a:t>
            </a:r>
            <a:r>
              <a:rPr lang="fr-FR" altLang="zh-CN" dirty="0"/>
              <a:t>’, ce qui évite la fuite d’information et limite la surestimation des métriques.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941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A5323-3590-5644-2007-DB2DE991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6511E-09FA-FAC6-641F-50CC11AA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Premier résultat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EB1217-04DC-A5B2-7780-B855351B87A6}"/>
              </a:ext>
            </a:extLst>
          </p:cNvPr>
          <p:cNvSpPr txBox="1"/>
          <p:nvPr/>
        </p:nvSpPr>
        <p:spPr>
          <a:xfrm>
            <a:off x="2870200" y="1521181"/>
            <a:ext cx="6096000" cy="2602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precision    recall  f1-score   support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axe1       0.83      0.61      0.70       284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axe2       0.52      0.64      0.58       112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axe3       0.70      0.97      0.81       506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400" b="1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axe4       0.60      0.17      0.26        18</a:t>
            </a:r>
            <a:endParaRPr lang="zh-CN" altLang="zh-CN" sz="2400" kern="100" dirty="0">
              <a:effectLst/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E01BCB8-C3DE-FF4E-83DE-2F9B9F58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240642"/>
            <a:ext cx="8361680" cy="225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59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A01B-5F8B-112B-6F60-36BDA608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F2369-C4F4-4745-986D-EF2E39D8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LR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EB3ED1-E8D8-40A1-D640-8DE3AC215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977640" cy="4351338"/>
          </a:xfrm>
        </p:spPr>
        <p:txBody>
          <a:bodyPr/>
          <a:lstStyle/>
          <a:p>
            <a:pPr marL="0" indent="0">
              <a:buNone/>
            </a:pPr>
            <a:r>
              <a:rPr lang="fr-FR" altLang="zh-CN" dirty="0"/>
              <a:t>Un modèle de régression </a:t>
            </a:r>
            <a:r>
              <a:rPr lang="fr-FR" altLang="zh-CN" dirty="0" err="1"/>
              <a:t>linéraire</a:t>
            </a:r>
            <a:r>
              <a:rPr lang="fr-FR" altLang="zh-CN" dirty="0"/>
              <a:t> pour prédire l’axe 4, pour éviter la domination des autres axes.</a:t>
            </a:r>
          </a:p>
          <a:p>
            <a:pPr marL="0" indent="0">
              <a:buNone/>
            </a:pP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Entrainé que sur les </a:t>
            </a:r>
            <a:r>
              <a:rPr lang="fr-FR" altLang="zh-CN" dirty="0" err="1"/>
              <a:t>embeddings</a:t>
            </a:r>
            <a:r>
              <a:rPr lang="fr-FR" altLang="zh-CN" dirty="0"/>
              <a:t> de résumé, qui donne la prédiction la plus performante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1BDC78-C06C-9E39-0FD0-F8BF30A5933A}"/>
              </a:ext>
            </a:extLst>
          </p:cNvPr>
          <p:cNvSpPr txBox="1"/>
          <p:nvPr/>
        </p:nvSpPr>
        <p:spPr>
          <a:xfrm>
            <a:off x="5257800" y="1552576"/>
            <a:ext cx="6096000" cy="3622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precision    recall  f1-score   support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0.0     1.0000    0.9910    0.9955       222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1.0     0.6667    1.0000    0.8000         </a:t>
            </a:r>
            <a:r>
              <a:rPr lang="en-US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sz="2000" kern="100" dirty="0">
              <a:effectLst/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accuracy                         0.9912       226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macro avg     0.8333    0.9955    0.8977       226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weighted avg     0.9941    0.9912    0.9920       226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A39444-FDA8-FFF0-26A1-0A62ACAA41AD}"/>
              </a:ext>
            </a:extLst>
          </p:cNvPr>
          <p:cNvSpPr txBox="1"/>
          <p:nvPr/>
        </p:nvSpPr>
        <p:spPr>
          <a:xfrm>
            <a:off x="5257800" y="5367739"/>
            <a:ext cx="6093500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NB. le nombre d’exemple pour l’axe est très peu, il faut faire attention à sa stabilité.</a:t>
            </a:r>
            <a:endParaRPr lang="zh-CN" altLang="zh-CN" sz="18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0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5CD5-CE54-94B0-88B4-818C761C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3FCEC-1A7D-4D5A-5ED6-C0805E0C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600" dirty="0"/>
              <a:t>Résultat final : </a:t>
            </a:r>
            <a:r>
              <a:rPr lang="fr-FR" altLang="zh-CN" sz="3600" dirty="0" err="1"/>
              <a:t>mlp</a:t>
            </a:r>
            <a:r>
              <a:rPr lang="fr-FR" altLang="zh-CN" sz="3600" dirty="0"/>
              <a:t> pour les axes 1-3, </a:t>
            </a:r>
            <a:r>
              <a:rPr lang="fr-FR" altLang="zh-CN" sz="3600" dirty="0" err="1"/>
              <a:t>lr</a:t>
            </a:r>
            <a:r>
              <a:rPr lang="fr-FR" altLang="zh-CN" sz="3600" dirty="0"/>
              <a:t> pour l’axe 4 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94FD14-CAD6-449D-E2AC-810C69B839CE}"/>
              </a:ext>
            </a:extLst>
          </p:cNvPr>
          <p:cNvSpPr txBox="1"/>
          <p:nvPr/>
        </p:nvSpPr>
        <p:spPr>
          <a:xfrm>
            <a:off x="711150" y="1690688"/>
            <a:ext cx="5072575" cy="418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precision    recall  f1-score   support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axe1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0.77      0.87      0.82        67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axe2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0.84      0.64      0.72        33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axe3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0.75      0.98      0.85       123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axe4       0.67      1.00      0.80         4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micro avg       0.76      0.89      0.82       227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macro avg       0.76      0.87      0.80       227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weighted avg       0.77      0.89      0.82       227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samples avg       0.81      0.89      0.84       227</a:t>
            </a:r>
            <a:endParaRPr lang="zh-CN" altLang="en-US" dirty="0"/>
          </a:p>
        </p:txBody>
      </p:sp>
      <p:pic>
        <p:nvPicPr>
          <p:cNvPr id="10" name="图片 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53708EE-91A3-55CD-A080-5BDD057AA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725" y="4248286"/>
            <a:ext cx="6088235" cy="163970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F4CE580-12C3-DFB7-542A-C947CFEFB628}"/>
              </a:ext>
            </a:extLst>
          </p:cNvPr>
          <p:cNvSpPr txBox="1"/>
          <p:nvPr/>
        </p:nvSpPr>
        <p:spPr>
          <a:xfrm>
            <a:off x="6272211" y="1704794"/>
            <a:ext cx="459310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F1 micro            : 0.8235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F1 macro            : 0.7973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F1 weighted         : 0.8200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Precision micro     : 0.7632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Recall micro        : 0.8943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6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D122-14E6-2942-149E-A1921D38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C8544-B0DE-4A78-FFA6-C3D06E16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1BDC2-A477-8AB4-C7BD-F2232EC18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97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521</Words>
  <Application>Microsoft Office PowerPoint</Application>
  <PresentationFormat>宽屏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Classification des axes thématique pour la production scientifique d’IRG</vt:lpstr>
      <vt:lpstr>Axe thématique d’IRG</vt:lpstr>
      <vt:lpstr>Attentes:</vt:lpstr>
      <vt:lpstr>Jeu de données</vt:lpstr>
      <vt:lpstr>Traitement du texte</vt:lpstr>
      <vt:lpstr>MLP</vt:lpstr>
      <vt:lpstr>Premier résultat </vt:lpstr>
      <vt:lpstr>LR </vt:lpstr>
      <vt:lpstr>Résultat final : mlp pour les axes 1-3, lr pour l’axe 4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LIU</dc:creator>
  <cp:lastModifiedBy>Ye LIU</cp:lastModifiedBy>
  <cp:revision>29</cp:revision>
  <dcterms:created xsi:type="dcterms:W3CDTF">2025-12-24T18:43:04Z</dcterms:created>
  <dcterms:modified xsi:type="dcterms:W3CDTF">2026-01-05T13:25:15Z</dcterms:modified>
</cp:coreProperties>
</file>