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65" r:id="rId5"/>
    <p:sldId id="264" r:id="rId6"/>
    <p:sldId id="261" r:id="rId7"/>
    <p:sldId id="266" r:id="rId8"/>
    <p:sldId id="262" r:id="rId9"/>
    <p:sldId id="267" r:id="rId10"/>
    <p:sldId id="269" r:id="rId11"/>
    <p:sldId id="26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2" autoAdjust="0"/>
    <p:restoredTop sz="94660"/>
  </p:normalViewPr>
  <p:slideViewPr>
    <p:cSldViewPr snapToGrid="0">
      <p:cViewPr varScale="1">
        <p:scale>
          <a:sx n="75" d="100"/>
          <a:sy n="75" d="100"/>
        </p:scale>
        <p:origin x="72" y="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F8C6-0F48-4D98-9107-72AF4E6D6D01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516B56-7746-460D-8F34-715ED539EB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1012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516B56-7746-460D-8F34-715ED539EBB4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8998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516B56-7746-460D-8F34-715ED539EBB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452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516B56-7746-460D-8F34-715ED539EBB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9254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F0CB57-6EEB-481E-09F0-A97825EF0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D03FA2-DFAF-3DE5-18B3-798E0DD4E5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83D2C2-6B26-D618-528E-3436F9E6B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A6288D-667C-6599-0296-5EE38F37A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5D241A-EACD-F098-EEB7-3320DA4EB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8382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A94F0-50F2-3864-E236-C49E2D1F8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01F5F4-9025-D153-43E6-287A3187F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863927-423D-5991-A487-6123CF09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D5F6C5-75B5-5054-F783-0B2E3D788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5BED7C-BAF3-BE8E-D27A-E9FB8ADC5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9173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389C1-91BE-E0CC-F1F8-FA9717D3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4831A2-9EEC-31ED-5A41-F47D5FA46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673780-CBA6-4895-32A8-5D0F721DD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705FA5-7289-19F7-DA0C-A99DDBC2F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34BCEE-E27A-E46C-2618-3A6E7AF94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2018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C20152-7383-59A0-1078-885C81C33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9C5B8F-C1DE-C16B-2916-D6F5ABAB3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60FBAF-4D97-0E48-D3A4-8A21414A2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AA0B520-297C-BA74-6129-5D144FC79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0C24D6-1B4D-F81F-88D6-C33D9891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D67AC78-3D0C-1CEC-F732-E9C7997E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06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184883-9EC1-2DF3-FF27-063C6F798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C9620D-89EE-E10B-8430-A16871FCA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3B023CA-248E-7952-9863-A412E62C2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317A83A-F94C-4709-65DF-F0DC10BF9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FF20F9A-5ABC-1A59-5974-332FAE0EED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861768C-D24F-0F57-D894-C1020CEB0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A26CE47-3DEC-AB61-3772-37699EF20A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5D4C4A7-74C2-E437-DCD2-5FED197B3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27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B4DBE-061E-AEFD-3A00-1E0E7CD7C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C0578D2-3CE8-F2D4-F7CD-21BB0BDC1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72A4BAA-82AE-57C9-1961-22FF0CD88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CA7F420-5947-F88D-93C8-1B196BD0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547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4677F6-36BF-C454-48AA-2CEA519E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D3BF28-C90D-C40A-2964-363980788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3E18FCA-58AB-DA1B-C9B8-B8B11BDA1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7302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2D808-D35E-4C41-2E32-D42AE843E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1D65D3-7B02-DAE3-9805-45BCEE8E8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84C66D-23E9-02CE-601A-77426B301E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E6245A-D103-A651-68B4-F883BCDB3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C12D199-EA70-44BB-8A73-A9BA6CD93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329D47-B3A4-5A23-D3A8-0FC707604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7921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2087C-A96E-FF30-8B69-7825601BF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917137-E9AE-F30F-E03F-06A7CBAA05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E18653A-996A-7694-D88A-D504C1D3BA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7D0C502-5E0D-B8C1-7773-719697CA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82285B-7731-CF3B-6DA9-0173ACE3D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BC41DE-CB80-32BC-3FBC-6BB6A9EC1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2978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61CAE7-F3A6-7736-674E-74C79BD7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3359CA6-5AD1-9FA9-5C47-F638CE1BB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743878-C4E6-2A19-B54D-948CADB63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1D269C-EA86-D697-3A9D-1977CC3A4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B7CB6F-A033-1A60-1816-1E4F06EE7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8879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C1236D-05D3-C022-3FF1-E302EB3202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259394-4022-4512-25F4-715EC29DE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2745FC-2A20-6CEB-465E-0B18795DB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F6B76B-47BD-8274-3517-3C6CA30BA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9F40FA-2147-7F46-6DD0-9DAE50443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1431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4AD596C-0B80-43D8-9A9B-C5425D85B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8C8242-AE2A-C206-4DEE-7A516C334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69F5D-BB67-5CBF-51C9-9A03B83A4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445FB-074D-4065-895E-515311F57E6B}" type="datetimeFigureOut">
              <a:rPr lang="zh-CN" altLang="en-US" smtClean="0"/>
              <a:t>2026/1/23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F9473B-35DF-1D6E-50B3-EF5E7FE38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69F10A-C481-7A75-AFBE-722044990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01AF73-2C79-4CE2-A145-47F750F5D9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5649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0BADF9-1EB0-1FC3-CD2C-60A7B38A93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250" y="1674408"/>
            <a:ext cx="11933499" cy="1754592"/>
          </a:xfrm>
        </p:spPr>
        <p:txBody>
          <a:bodyPr>
            <a:normAutofit/>
          </a:bodyPr>
          <a:lstStyle/>
          <a:p>
            <a:r>
              <a:rPr lang="fr-FR" altLang="zh-CN" sz="5400" b="1" dirty="0"/>
              <a:t>Classification des axes thématique pour la production scientifique d’IRG</a:t>
            </a:r>
            <a:endParaRPr lang="zh-CN" altLang="en-US" sz="5400" b="1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B48DC4-CF55-3EA8-E0AF-828A60023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05869"/>
            <a:ext cx="9144000" cy="552771"/>
          </a:xfrm>
        </p:spPr>
        <p:txBody>
          <a:bodyPr/>
          <a:lstStyle/>
          <a:p>
            <a:r>
              <a:rPr lang="fr-FR" altLang="zh-CN" dirty="0"/>
              <a:t>Ye LIU 23/01/2026</a:t>
            </a:r>
            <a:endParaRPr lang="zh-CN" altLang="en-US" dirty="0"/>
          </a:p>
        </p:txBody>
      </p:sp>
      <p:pic>
        <p:nvPicPr>
          <p:cNvPr id="7" name="图片 6" descr="徽标&#10;&#10;AI 生成的内容可能不正确。">
            <a:extLst>
              <a:ext uri="{FF2B5EF4-FFF2-40B4-BE49-F238E27FC236}">
                <a16:creationId xmlns:a16="http://schemas.microsoft.com/office/drawing/2014/main" id="{C7A729B3-B260-6ABE-C728-1DADEC4E9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50" y="5317069"/>
            <a:ext cx="5524869" cy="1228896"/>
          </a:xfrm>
          <a:prstGeom prst="rect">
            <a:avLst/>
          </a:prstGeom>
        </p:spPr>
      </p:pic>
      <p:pic>
        <p:nvPicPr>
          <p:cNvPr id="9" name="图片 8" descr="卡通人物&#10;&#10;AI 生成的内容可能不正确。">
            <a:extLst>
              <a:ext uri="{FF2B5EF4-FFF2-40B4-BE49-F238E27FC236}">
                <a16:creationId xmlns:a16="http://schemas.microsoft.com/office/drawing/2014/main" id="{0F7EF4F8-B4B4-4603-EF71-2FB7BFAC8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2977" y="5332515"/>
            <a:ext cx="2649960" cy="1131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09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1162B3-AB00-FF3F-5462-124935C44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Jeu de données 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7E077E1-E3D9-9A96-80FB-F850CB1961A3}"/>
              </a:ext>
            </a:extLst>
          </p:cNvPr>
          <p:cNvSpPr txBox="1">
            <a:spLocks/>
          </p:cNvSpPr>
          <p:nvPr/>
        </p:nvSpPr>
        <p:spPr>
          <a:xfrm>
            <a:off x="838200" y="1539284"/>
            <a:ext cx="6979920" cy="5181556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altLang="zh-CN" sz="3800" b="1" dirty="0"/>
              <a:t>Source</a:t>
            </a:r>
            <a:r>
              <a:rPr lang="fr-FR" altLang="zh-CN" sz="3800" dirty="0"/>
              <a:t> : HAL </a:t>
            </a:r>
          </a:p>
          <a:p>
            <a:pPr marL="0" indent="0">
              <a:buNone/>
            </a:pPr>
            <a:r>
              <a:rPr lang="fr-FR" altLang="zh-CN" sz="3800" b="1" dirty="0"/>
              <a:t>Période</a:t>
            </a:r>
            <a:r>
              <a:rPr lang="fr-FR" altLang="zh-CN" sz="3800" dirty="0"/>
              <a:t> : articles d’IRG avant 2025</a:t>
            </a:r>
          </a:p>
          <a:p>
            <a:pPr marL="457200" lvl="1" indent="0">
              <a:buNone/>
            </a:pPr>
            <a:r>
              <a:rPr lang="fr-FR" altLang="zh-CN" sz="2900" dirty="0"/>
              <a:t>-</a:t>
            </a:r>
            <a:r>
              <a:rPr lang="en-US" altLang="zh-CN" sz="2900" dirty="0"/>
              <a:t>2486</a:t>
            </a:r>
            <a:r>
              <a:rPr lang="fr-FR" altLang="zh-CN" sz="2900" dirty="0"/>
              <a:t> articles au total, dont </a:t>
            </a:r>
            <a:r>
              <a:rPr lang="en-US" altLang="zh-CN" sz="2900" dirty="0"/>
              <a:t>2021</a:t>
            </a:r>
            <a:r>
              <a:rPr lang="fr-FR" altLang="zh-CN" sz="2900" dirty="0"/>
              <a:t> ont au moins un axe</a:t>
            </a:r>
            <a:endParaRPr lang="zh-CN" altLang="zh-CN" sz="2900" dirty="0"/>
          </a:p>
          <a:p>
            <a:pPr marL="0" indent="0">
              <a:buNone/>
            </a:pPr>
            <a:endParaRPr lang="en-US" altLang="zh-CN" sz="3800" b="1" dirty="0"/>
          </a:p>
          <a:p>
            <a:pPr marL="0" indent="0">
              <a:buNone/>
            </a:pPr>
            <a:r>
              <a:rPr lang="en-US" altLang="zh-CN" sz="3800" b="1" dirty="0"/>
              <a:t>Domaines disciplinaries </a:t>
            </a:r>
            <a:r>
              <a:rPr lang="en-US" altLang="zh-CN" sz="3800" b="1" dirty="0" err="1"/>
              <a:t>principaux</a:t>
            </a:r>
            <a:r>
              <a:rPr lang="en-US" altLang="zh-CN" sz="3800" b="1" dirty="0"/>
              <a:t> :</a:t>
            </a:r>
          </a:p>
          <a:p>
            <a:pPr lvl="1"/>
            <a:r>
              <a:rPr lang="en-US" altLang="zh-CN" sz="2900" dirty="0"/>
              <a:t>Finance et </a:t>
            </a:r>
            <a:r>
              <a:rPr lang="fr-FR" altLang="zh-CN" sz="2900" dirty="0"/>
              <a:t>comptabilité</a:t>
            </a:r>
            <a:r>
              <a:rPr lang="en-US" altLang="zh-CN" sz="2900" dirty="0"/>
              <a:t>  </a:t>
            </a:r>
            <a:endParaRPr lang="zh-CN" altLang="en-US" sz="2900" dirty="0"/>
          </a:p>
          <a:p>
            <a:pPr lvl="1"/>
            <a:r>
              <a:rPr lang="en-US" altLang="zh-CN" sz="2900" dirty="0"/>
              <a:t>Management</a:t>
            </a:r>
            <a:endParaRPr lang="fr-FR" altLang="zh-CN" sz="2900" dirty="0"/>
          </a:p>
          <a:p>
            <a:pPr lvl="1"/>
            <a:r>
              <a:rPr lang="en-US" altLang="zh-CN" sz="2900" dirty="0"/>
              <a:t>Marketing 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altLang="zh-CN" sz="3800" b="1" dirty="0"/>
              <a:t>Axes thématiques 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altLang="zh-CN" sz="2900" dirty="0"/>
              <a:t>AXE1:</a:t>
            </a:r>
            <a:r>
              <a:rPr lang="fr-FR" altLang="zh-CN" sz="2900" b="1" dirty="0"/>
              <a:t> </a:t>
            </a:r>
            <a:r>
              <a:rPr lang="fr-FR" altLang="zh-CN" sz="2900" dirty="0"/>
              <a:t>Performances et </a:t>
            </a:r>
            <a:r>
              <a:rPr lang="fr-FR" altLang="zh-CN" sz="2900" dirty="0" err="1"/>
              <a:t>responsabilit</a:t>
            </a:r>
            <a:r>
              <a:rPr lang="zh-CN" altLang="zh-CN" sz="2900" dirty="0"/>
              <a:t>é</a:t>
            </a:r>
            <a:r>
              <a:rPr lang="fr-FR" altLang="zh-CN" sz="2900" dirty="0"/>
              <a:t>s</a:t>
            </a:r>
            <a:endParaRPr lang="zh-CN" altLang="zh-CN" sz="2900" dirty="0"/>
          </a:p>
          <a:p>
            <a:pPr marL="0" indent="0">
              <a:lnSpc>
                <a:spcPct val="150000"/>
              </a:lnSpc>
              <a:buNone/>
            </a:pPr>
            <a:r>
              <a:rPr lang="fr-FR" altLang="zh-CN" sz="2900" dirty="0"/>
              <a:t>AXE2: </a:t>
            </a:r>
            <a:r>
              <a:rPr lang="fr-FR" altLang="zh-CN" sz="2900" dirty="0" err="1"/>
              <a:t>Soci</a:t>
            </a:r>
            <a:r>
              <a:rPr lang="zh-CN" altLang="zh-CN" sz="2900" dirty="0"/>
              <a:t>é</a:t>
            </a:r>
            <a:r>
              <a:rPr lang="fr-FR" altLang="zh-CN" sz="2900" dirty="0"/>
              <a:t>t</a:t>
            </a:r>
            <a:r>
              <a:rPr lang="zh-CN" altLang="zh-CN" sz="2900" dirty="0"/>
              <a:t>é</a:t>
            </a:r>
            <a:r>
              <a:rPr lang="fr-FR" altLang="zh-CN" sz="2900" dirty="0"/>
              <a:t> de services et services </a:t>
            </a:r>
            <a:r>
              <a:rPr lang="zh-CN" altLang="zh-CN" sz="2900" dirty="0"/>
              <a:t>à</a:t>
            </a:r>
            <a:r>
              <a:rPr lang="fr-FR" altLang="zh-CN" sz="2900" dirty="0"/>
              <a:t> la </a:t>
            </a:r>
            <a:r>
              <a:rPr lang="fr-FR" altLang="zh-CN" sz="2900" dirty="0" err="1"/>
              <a:t>soci</a:t>
            </a:r>
            <a:r>
              <a:rPr lang="zh-CN" altLang="zh-CN" sz="2900" dirty="0"/>
              <a:t>é</a:t>
            </a:r>
            <a:r>
              <a:rPr lang="fr-FR" altLang="zh-CN" sz="2900" dirty="0"/>
              <a:t>t</a:t>
            </a:r>
            <a:r>
              <a:rPr lang="zh-CN" altLang="zh-CN" sz="2900" dirty="0"/>
              <a:t>é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fr-FR" altLang="zh-CN" sz="2900" dirty="0"/>
              <a:t>AXE3: Innovations, transformations et r</a:t>
            </a:r>
            <a:r>
              <a:rPr lang="zh-CN" altLang="zh-CN" sz="2900" dirty="0"/>
              <a:t>é</a:t>
            </a:r>
            <a:r>
              <a:rPr lang="fr-FR" altLang="zh-CN" sz="2900" dirty="0" err="1"/>
              <a:t>sistances</a:t>
            </a:r>
            <a:r>
              <a:rPr lang="fr-FR" altLang="zh-CN" sz="2900" dirty="0"/>
              <a:t> organisationnelles et </a:t>
            </a:r>
            <a:r>
              <a:rPr lang="fr-FR" altLang="zh-CN" sz="2900" dirty="0" err="1"/>
              <a:t>soci</a:t>
            </a:r>
            <a:r>
              <a:rPr lang="zh-CN" altLang="zh-CN" sz="2900" dirty="0"/>
              <a:t>é</a:t>
            </a:r>
            <a:r>
              <a:rPr lang="fr-FR" altLang="zh-CN" sz="2900" dirty="0"/>
              <a:t>tales</a:t>
            </a:r>
            <a:endParaRPr lang="zh-CN" altLang="zh-CN" sz="2900" dirty="0"/>
          </a:p>
          <a:p>
            <a:pPr marL="0" indent="0">
              <a:lnSpc>
                <a:spcPct val="150000"/>
              </a:lnSpc>
              <a:buNone/>
            </a:pPr>
            <a:r>
              <a:rPr lang="fr-FR" altLang="zh-CN" sz="2900" dirty="0"/>
              <a:t>AXE4: Ouvrages p</a:t>
            </a:r>
            <a:r>
              <a:rPr lang="zh-CN" altLang="zh-CN" sz="2900" dirty="0"/>
              <a:t>é</a:t>
            </a:r>
            <a:r>
              <a:rPr lang="fr-FR" altLang="zh-CN" sz="2900" dirty="0" err="1"/>
              <a:t>dagogiques</a:t>
            </a:r>
            <a:endParaRPr lang="zh-CN" altLang="zh-CN" sz="2900" dirty="0"/>
          </a:p>
        </p:txBody>
      </p:sp>
      <p:pic>
        <p:nvPicPr>
          <p:cNvPr id="8" name="图片 7" descr="图表, 饼图&#10;&#10;AI 生成的内容可能不正确。">
            <a:extLst>
              <a:ext uri="{FF2B5EF4-FFF2-40B4-BE49-F238E27FC236}">
                <a16:creationId xmlns:a16="http://schemas.microsoft.com/office/drawing/2014/main" id="{86C87F54-AF50-5FD3-C835-B483328ED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36" y="1539284"/>
            <a:ext cx="4099516" cy="409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284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C8C1-2FDD-34B1-810E-E5DD49C54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D5D5C6-7554-1045-EFA2-7EB52C52C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73615" cy="1325563"/>
          </a:xfrm>
        </p:spPr>
        <p:txBody>
          <a:bodyPr/>
          <a:lstStyle/>
          <a:p>
            <a:r>
              <a:rPr lang="fr-FR" altLang="zh-CN" b="1" dirty="0"/>
              <a:t>Attentes: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896FF80-D58D-2B38-1BEF-CDA7F8C4E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9142" cy="4351338"/>
          </a:xfrm>
        </p:spPr>
        <p:txBody>
          <a:bodyPr>
            <a:normAutofit/>
          </a:bodyPr>
          <a:lstStyle/>
          <a:p>
            <a:r>
              <a:rPr lang="fr-FR" altLang="zh-CN" sz="2400" dirty="0"/>
              <a:t>Compléter automatiquement les métadonnées </a:t>
            </a:r>
          </a:p>
          <a:p>
            <a:endParaRPr lang="fr-FR" altLang="zh-CN" sz="2400" dirty="0"/>
          </a:p>
          <a:p>
            <a:r>
              <a:rPr lang="fr-FR" altLang="zh-CN" sz="2400" dirty="0"/>
              <a:t>Identifier les thèmes plus spécifiques sous chaque axe et les liens entre les axes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78F09828-26B1-E179-45D7-BCBEFEDB8507}"/>
              </a:ext>
            </a:extLst>
          </p:cNvPr>
          <p:cNvSpPr txBox="1">
            <a:spLocks/>
          </p:cNvSpPr>
          <p:nvPr/>
        </p:nvSpPr>
        <p:spPr>
          <a:xfrm>
            <a:off x="6096000" y="365125"/>
            <a:ext cx="553915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altLang="zh-CN" b="1"/>
              <a:t>Défis </a:t>
            </a:r>
            <a:r>
              <a:rPr lang="fr-FR" altLang="zh-CN" b="1" dirty="0"/>
              <a:t>:</a:t>
            </a:r>
            <a:endParaRPr lang="zh-CN" altLang="en-US" b="1" dirty="0"/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430AFF1E-6751-A0EF-97D6-C469886614B7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5539152" cy="46753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altLang="zh-CN" sz="2400" b="1" dirty="0"/>
              <a:t>Manque : </a:t>
            </a:r>
            <a:r>
              <a:rPr lang="fr-FR" altLang="zh-CN" sz="2400" dirty="0"/>
              <a:t>20 % des données sont manquantes pour les axes.</a:t>
            </a:r>
          </a:p>
          <a:p>
            <a:endParaRPr lang="fr-FR" altLang="zh-CN" sz="2400" dirty="0"/>
          </a:p>
          <a:p>
            <a:r>
              <a:rPr lang="fr-FR" altLang="zh-CN" sz="2400" b="1" dirty="0" err="1"/>
              <a:t>Mutli</a:t>
            </a:r>
            <a:r>
              <a:rPr lang="fr-FR" altLang="zh-CN" sz="2400" b="1" dirty="0"/>
              <a:t>-label</a:t>
            </a:r>
            <a:r>
              <a:rPr lang="fr-FR" altLang="zh-CN" sz="2400" dirty="0"/>
              <a:t> : Certaines observations appartiennent à plusieurs axes simultanément</a:t>
            </a:r>
          </a:p>
          <a:p>
            <a:endParaRPr lang="fr-FR" altLang="zh-CN" sz="2400" dirty="0"/>
          </a:p>
          <a:p>
            <a:r>
              <a:rPr lang="en-US" altLang="zh-CN" sz="2400" b="1" dirty="0"/>
              <a:t>Forte imbalance</a:t>
            </a:r>
            <a:r>
              <a:rPr lang="en-US" altLang="zh-CN" sz="2400" dirty="0"/>
              <a:t> : axe3 = 42 %, axe1 = 26 %, axe2=22%, axe4= 10%</a:t>
            </a:r>
          </a:p>
          <a:p>
            <a:endParaRPr lang="fr-FR" altLang="zh-CN" sz="2400" b="1" dirty="0"/>
          </a:p>
          <a:p>
            <a:r>
              <a:rPr lang="fr-FR" altLang="zh-CN" sz="2400" b="1" dirty="0"/>
              <a:t>Similarité sémantique : </a:t>
            </a:r>
            <a:r>
              <a:rPr lang="fr-FR" altLang="zh-CN" sz="2400" dirty="0"/>
              <a:t>issus de même domaine ‘la gestion’</a:t>
            </a:r>
          </a:p>
          <a:p>
            <a:pPr marL="0" indent="0">
              <a:buNone/>
            </a:pPr>
            <a:endParaRPr lang="fr-FR" altLang="zh-CN" dirty="0"/>
          </a:p>
        </p:txBody>
      </p:sp>
    </p:spTree>
    <p:extLst>
      <p:ext uri="{BB962C8B-B14F-4D97-AF65-F5344CB8AC3E}">
        <p14:creationId xmlns:p14="http://schemas.microsoft.com/office/powerpoint/2010/main" val="1144624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A9C91-AD5A-380C-FBE8-699BFE36D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D8AF70-E95C-A7A8-82FA-523DC347D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Traitement du texte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CB960B-2401-C97C-E228-48DBAE30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altLang="zh-CN" dirty="0" err="1"/>
              <a:t>Embeddings</a:t>
            </a:r>
            <a:r>
              <a:rPr lang="fr-FR" altLang="zh-CN" dirty="0"/>
              <a:t> par le model</a:t>
            </a:r>
            <a:r>
              <a:rPr lang="en-US" altLang="zh-CN" i="1" dirty="0"/>
              <a:t>"BAAI/bge-m3"</a:t>
            </a:r>
            <a:endParaRPr lang="fr-FR" altLang="zh-CN" i="1" dirty="0"/>
          </a:p>
          <a:p>
            <a:pPr marL="0" indent="0">
              <a:buNone/>
            </a:pPr>
            <a:r>
              <a:rPr lang="fr-FR" altLang="zh-CN" dirty="0" err="1"/>
              <a:t>Embedder</a:t>
            </a:r>
            <a:r>
              <a:rPr lang="fr-FR" altLang="zh-CN" dirty="0"/>
              <a:t> </a:t>
            </a:r>
            <a:r>
              <a:rPr lang="fr-FR" altLang="zh-CN" dirty="0" err="1"/>
              <a:t>séparement</a:t>
            </a:r>
            <a:r>
              <a:rPr lang="fr-FR" altLang="zh-CN" dirty="0"/>
              <a:t> le titre, les mots-clés, les résumés p</a:t>
            </a:r>
            <a:r>
              <a:rPr lang="en-US" altLang="zh-CN" dirty="0" err="1"/>
              <a:t>ar</a:t>
            </a:r>
            <a:r>
              <a:rPr lang="fr-FR" altLang="zh-CN" dirty="0"/>
              <a:t> le modèle  et ajouter un vecteur qui indique la source du texte</a:t>
            </a:r>
          </a:p>
          <a:p>
            <a:pPr marL="0" indent="0">
              <a:buNone/>
            </a:pPr>
            <a:r>
              <a:rPr lang="fr-FR" altLang="zh-CN" dirty="0"/>
              <a:t> </a:t>
            </a:r>
          </a:p>
          <a:p>
            <a:pPr marL="0" indent="0">
              <a:buNone/>
            </a:pPr>
            <a:r>
              <a:rPr lang="fr-FR" altLang="zh-CN" dirty="0"/>
              <a:t>Ps. Les 3 colon</a:t>
            </a:r>
            <a:r>
              <a:rPr lang="en-US" altLang="zh-CN" dirty="0"/>
              <a:t>n</a:t>
            </a:r>
            <a:r>
              <a:rPr lang="fr-FR" altLang="zh-CN" dirty="0"/>
              <a:t>es ne sont pas tous disponible dans les articles;</a:t>
            </a:r>
          </a:p>
          <a:p>
            <a:pPr marL="0" indent="0">
              <a:buNone/>
            </a:pPr>
            <a:r>
              <a:rPr lang="fr-FR" altLang="zh-CN" dirty="0"/>
              <a:t>Chaque texte est traité comme un exemple distinct. </a:t>
            </a:r>
          </a:p>
          <a:p>
            <a:pPr marL="0" indent="0">
              <a:buNone/>
            </a:pPr>
            <a:r>
              <a:rPr lang="fr-FR" altLang="zh-CN" dirty="0"/>
              <a:t>Cette approche permet d’augmenter le nombre d’exemples d’apprentissage et de conserver des signaux sémantiques plus spécifiques.</a:t>
            </a:r>
            <a:endParaRPr lang="zh-CN" altLang="zh-CN" dirty="0"/>
          </a:p>
          <a:p>
            <a:pPr marL="0" indent="0">
              <a:buNone/>
            </a:pPr>
            <a:endParaRPr lang="fr-FR" altLang="zh-CN" dirty="0"/>
          </a:p>
          <a:p>
            <a:pPr marL="0" indent="0">
              <a:buNone/>
            </a:pPr>
            <a:endParaRPr lang="fr-FR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44500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1E124-BEA1-B823-CD95-C4F25DBD6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35965D-F06B-20FC-5BAF-BECD27BB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91000" cy="1325563"/>
          </a:xfrm>
        </p:spPr>
        <p:txBody>
          <a:bodyPr/>
          <a:lstStyle/>
          <a:p>
            <a:r>
              <a:rPr lang="fr-FR" altLang="zh-CN" b="1" dirty="0"/>
              <a:t>Modèle MLP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01091A-9765-9D4F-F2C5-67F891D4E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683240" cy="4938711"/>
          </a:xfrm>
        </p:spPr>
        <p:txBody>
          <a:bodyPr>
            <a:normAutofit/>
          </a:bodyPr>
          <a:lstStyle/>
          <a:p>
            <a:r>
              <a:rPr lang="fr-FR" altLang="zh-CN" sz="2400" b="1" dirty="0"/>
              <a:t>Données entrées: </a:t>
            </a:r>
            <a:r>
              <a:rPr lang="fr-FR" altLang="zh-CN" sz="2400" dirty="0"/>
              <a:t> Train : 3626 </a:t>
            </a:r>
            <a:r>
              <a:rPr lang="fr-FR" altLang="zh-CN" sz="2400" dirty="0" err="1"/>
              <a:t>embeddings</a:t>
            </a:r>
            <a:r>
              <a:rPr lang="fr-FR" altLang="zh-CN" sz="2400" dirty="0"/>
              <a:t> , 1025+3 dimensions</a:t>
            </a:r>
          </a:p>
          <a:p>
            <a:r>
              <a:rPr lang="fr-FR" altLang="zh-CN" sz="2400" b="1" dirty="0"/>
              <a:t>MLP multi-label: </a:t>
            </a:r>
            <a:r>
              <a:rPr lang="fr-FR" altLang="zh-CN" sz="2400" dirty="0"/>
              <a:t>apprend une représentation commune pour prédire plusieurs catégories en même temps.</a:t>
            </a:r>
          </a:p>
          <a:p>
            <a:endParaRPr lang="fr-FR" altLang="zh-CN" sz="2400" dirty="0"/>
          </a:p>
          <a:p>
            <a:r>
              <a:rPr lang="fr-FR" altLang="zh-CN" sz="2400" b="1" dirty="0"/>
              <a:t>Equilibrer les classes :</a:t>
            </a:r>
          </a:p>
          <a:p>
            <a:pPr lvl="1"/>
            <a:r>
              <a:rPr lang="fr-FR" altLang="zh-CN" sz="2000" b="1" dirty="0"/>
              <a:t>Sampler : </a:t>
            </a:r>
            <a:r>
              <a:rPr lang="fr-FR" altLang="zh-CN" sz="2000" dirty="0"/>
              <a:t>permet de montrer plus souvent au modèle les exemples des </a:t>
            </a:r>
            <a:r>
              <a:rPr lang="fr-FR" altLang="zh-CN" sz="2000" b="1" dirty="0"/>
              <a:t>classes rares </a:t>
            </a:r>
            <a:r>
              <a:rPr lang="fr-FR" altLang="zh-CN" sz="2000" dirty="0"/>
              <a:t>pendant l’entraînement.</a:t>
            </a:r>
          </a:p>
          <a:p>
            <a:pPr lvl="1"/>
            <a:r>
              <a:rPr lang="fr-FR" altLang="zh-CN" sz="2000" b="1" dirty="0" err="1"/>
              <a:t>Focalloss</a:t>
            </a:r>
            <a:r>
              <a:rPr lang="fr-FR" altLang="zh-CN" sz="2000" dirty="0"/>
              <a:t> : force le modèle à se concentrer davantage sur </a:t>
            </a:r>
            <a:r>
              <a:rPr lang="fr-FR" altLang="zh-CN" sz="2000" b="1" dirty="0"/>
              <a:t>les exemples difficiles et les classes rares.</a:t>
            </a:r>
          </a:p>
          <a:p>
            <a:pPr lvl="1"/>
            <a:endParaRPr lang="fr-FR" altLang="zh-CN" sz="2000" dirty="0"/>
          </a:p>
          <a:p>
            <a:r>
              <a:rPr lang="fr-FR" altLang="zh-CN" sz="2400" b="1" dirty="0"/>
              <a:t>Seuil optimisé: </a:t>
            </a:r>
            <a:r>
              <a:rPr lang="en-US" altLang="zh-CN" sz="2000" dirty="0"/>
              <a:t>S</a:t>
            </a:r>
            <a:r>
              <a:rPr lang="fr-FR" altLang="zh-CN" sz="2000" dirty="0"/>
              <a:t>électionné par l’approche </a:t>
            </a:r>
            <a:r>
              <a:rPr lang="fr-FR" altLang="zh-CN" sz="2000" b="1" i="1" dirty="0"/>
              <a:t>‘out of </a:t>
            </a:r>
            <a:r>
              <a:rPr lang="fr-FR" altLang="zh-CN" sz="2000" b="1" i="1" dirty="0" err="1"/>
              <a:t>fold</a:t>
            </a:r>
            <a:r>
              <a:rPr lang="fr-FR" altLang="zh-CN" sz="2000" b="1" i="1" dirty="0"/>
              <a:t>’, </a:t>
            </a:r>
            <a:r>
              <a:rPr lang="fr-FR" altLang="zh-CN" sz="2000" dirty="0"/>
              <a:t>ce qui évite la fuite d’information et limite la surestimation des métriques</a:t>
            </a:r>
            <a:r>
              <a:rPr lang="fr-FR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9410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A5323-3590-5644-2007-DB2DE991E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C6511E-09FA-FAC6-641F-50CC11AA7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Premier résultat </a:t>
            </a:r>
            <a:endParaRPr lang="zh-CN" alt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0EB1217-04DC-A5B2-7780-B855351B87A6}"/>
              </a:ext>
            </a:extLst>
          </p:cNvPr>
          <p:cNvSpPr txBox="1"/>
          <p:nvPr/>
        </p:nvSpPr>
        <p:spPr>
          <a:xfrm>
            <a:off x="2870200" y="1521181"/>
            <a:ext cx="7014580" cy="260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	    </a:t>
            </a:r>
            <a:r>
              <a:rPr lang="en-US" altLang="zh-CN" sz="2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precision    recall  f1-score   support</a:t>
            </a:r>
            <a:endParaRPr lang="zh-CN" altLang="zh-CN" sz="2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axe1       0.83      0.61      0.70       284</a:t>
            </a:r>
            <a:endParaRPr lang="zh-CN" altLang="zh-CN" sz="2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axe2       0.52      0.64      0.58       112</a:t>
            </a:r>
            <a:endParaRPr lang="zh-CN" altLang="zh-CN" sz="2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4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axe3       0.70      0.97      0.81       506</a:t>
            </a:r>
            <a:endParaRPr lang="zh-CN" altLang="zh-CN" sz="24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400" b="1" kern="100" dirty="0">
                <a:effectLst/>
                <a:highlight>
                  <a:srgbClr val="FFFF00"/>
                </a:highlight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axe4       0.60      0.17      0.26        18</a:t>
            </a:r>
            <a:endParaRPr lang="zh-CN" altLang="zh-CN" sz="2400" kern="100" dirty="0">
              <a:effectLst/>
              <a:highlight>
                <a:srgbClr val="FFFF00"/>
              </a:highligh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E01BCB8-C3DE-FF4E-83DE-2F9B9F586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4240642"/>
            <a:ext cx="8361680" cy="2252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759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A01B-5F8B-112B-6F60-36BDA6088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2F2369-C4F4-4745-986D-EF2E39D8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Modèle LR 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EB3ED1-E8D8-40A1-D640-8DE3AC2153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29768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altLang="zh-CN" dirty="0"/>
              <a:t>Un modèle de régression logistique pour prédire l’axe 4, pour éviter la domination des autres axes.</a:t>
            </a:r>
          </a:p>
          <a:p>
            <a:pPr marL="0" indent="0">
              <a:buNone/>
            </a:pPr>
            <a:endParaRPr lang="fr-FR" altLang="zh-CN" dirty="0"/>
          </a:p>
          <a:p>
            <a:pPr marL="0" indent="0">
              <a:buNone/>
            </a:pPr>
            <a:r>
              <a:rPr lang="fr-FR" altLang="zh-CN" dirty="0"/>
              <a:t>Entrainé </a:t>
            </a:r>
            <a:r>
              <a:rPr lang="fr-FR" altLang="zh-CN" b="1" dirty="0"/>
              <a:t>uniquement</a:t>
            </a:r>
            <a:r>
              <a:rPr lang="fr-FR" altLang="zh-CN" dirty="0"/>
              <a:t> sur 1129 </a:t>
            </a:r>
            <a:r>
              <a:rPr lang="fr-FR" altLang="zh-CN" dirty="0" err="1"/>
              <a:t>embeddings</a:t>
            </a:r>
            <a:r>
              <a:rPr lang="fr-FR" altLang="zh-CN" dirty="0"/>
              <a:t> de résumé, qui donne la prédiction la plus performante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1BDC78-C06C-9E39-0FD0-F8BF30A5933A}"/>
              </a:ext>
            </a:extLst>
          </p:cNvPr>
          <p:cNvSpPr txBox="1"/>
          <p:nvPr/>
        </p:nvSpPr>
        <p:spPr>
          <a:xfrm>
            <a:off x="5257800" y="1552576"/>
            <a:ext cx="6096000" cy="3622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	</a:t>
            </a: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precision    recall  f1-score   support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0.0     1.0000    0.9910    0.9955       222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  1.0     0.6667    1.0000    0.8000         </a:t>
            </a:r>
            <a:r>
              <a:rPr lang="en-US" altLang="zh-CN" sz="2000" kern="100" dirty="0">
                <a:effectLst/>
                <a:highlight>
                  <a:srgbClr val="FFFF00"/>
                </a:highlight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zh-CN" sz="2000" kern="100" dirty="0">
              <a:effectLst/>
              <a:highlight>
                <a:srgbClr val="FFFF00"/>
              </a:highlight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accuracy                         0.9912       226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macro avg     0.8333    0.9955    0.8977       226</a:t>
            </a:r>
            <a:endParaRPr lang="zh-CN" altLang="zh-CN" sz="20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20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weighted avg     0.9941    0.9912    0.9920       226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A39444-FDA8-FFF0-26A1-0A62ACAA41AD}"/>
              </a:ext>
            </a:extLst>
          </p:cNvPr>
          <p:cNvSpPr txBox="1"/>
          <p:nvPr/>
        </p:nvSpPr>
        <p:spPr>
          <a:xfrm>
            <a:off x="5257800" y="5367739"/>
            <a:ext cx="6093500" cy="711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fr-FR" altLang="zh-CN" sz="1800" b="1" kern="100" dirty="0">
                <a:solidFill>
                  <a:srgbClr val="FF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NB. le nombre d’exemple pour l’axe est très peu, il faut faire attention à sa stabilité.</a:t>
            </a:r>
            <a:endParaRPr lang="zh-CN" altLang="zh-CN" sz="1800" b="1" kern="100" dirty="0">
              <a:solidFill>
                <a:srgbClr val="FF0000"/>
              </a:solidFill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208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E5CD5-CE54-94B0-88B4-818C761C8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23FCEC-1A7D-4D5A-5ED6-C0805E0CF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altLang="zh-CN" sz="3600" b="1" dirty="0"/>
              <a:t>Résultat final : MLP pour les axes 1-3+LR pour l’axe 4 </a:t>
            </a:r>
            <a:endParaRPr lang="zh-CN" altLang="en-US" sz="36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94FD14-CAD6-449D-E2AC-810C69B839CE}"/>
              </a:ext>
            </a:extLst>
          </p:cNvPr>
          <p:cNvSpPr txBox="1"/>
          <p:nvPr/>
        </p:nvSpPr>
        <p:spPr>
          <a:xfrm>
            <a:off x="711150" y="1690688"/>
            <a:ext cx="5072575" cy="4183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	precision   recall  f1-score   support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en-US" altLang="zh-CN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axe1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0.77      0.87      0.82        67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en-US" altLang="zh-CN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axe2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0.84      0.64      0.72        33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en-US" altLang="zh-CN" kern="100" dirty="0"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axe3</a:t>
            </a: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  0.75      0.98      0.85       123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  axe4       0.67      1.00      0.80         4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 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micro avg       0.76      0.89      0.82       227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  macro avg       0.76      0.87      0.80       227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weighted avg       0.77      0.89      0.82       227</a:t>
            </a:r>
            <a:endParaRPr lang="zh-CN" altLang="zh-CN" sz="1800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 samples avg       0.81      0.89      0.84       227</a:t>
            </a:r>
            <a:endParaRPr lang="zh-CN" altLang="en-US" dirty="0"/>
          </a:p>
        </p:txBody>
      </p:sp>
      <p:pic>
        <p:nvPicPr>
          <p:cNvPr id="10" name="图片 9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053708EE-91A3-55CD-A080-5BDD057AA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725" y="4248286"/>
            <a:ext cx="6088235" cy="1639704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FF4CE580-12C3-DFB7-542A-C947CFEFB628}"/>
              </a:ext>
            </a:extLst>
          </p:cNvPr>
          <p:cNvSpPr txBox="1"/>
          <p:nvPr/>
        </p:nvSpPr>
        <p:spPr>
          <a:xfrm>
            <a:off x="6272211" y="1704794"/>
            <a:ext cx="4593102" cy="207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F1 micro            : 0.8235</a:t>
            </a:r>
            <a:endParaRPr lang="zh-CN" altLang="zh-CN" sz="1800" b="1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F1 macro            : 0.7973</a:t>
            </a:r>
            <a:endParaRPr lang="zh-CN" altLang="zh-CN" sz="1800" b="1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F1 weighted         : 0.8200</a:t>
            </a:r>
            <a:endParaRPr lang="zh-CN" altLang="zh-CN" sz="1800" b="1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Precision micro     : 0.7632</a:t>
            </a:r>
            <a:endParaRPr lang="zh-CN" altLang="zh-CN" sz="1800" b="1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altLang="zh-CN" sz="1800" b="1" kern="100" dirty="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Recall micro        : 0.8943</a:t>
            </a:r>
            <a:endParaRPr lang="zh-CN" altLang="zh-CN" sz="1800" b="1" kern="100" dirty="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760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CD66DE-1CCC-F6C8-CD0C-4EEF445D5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328686" cy="1325563"/>
          </a:xfrm>
        </p:spPr>
        <p:txBody>
          <a:bodyPr/>
          <a:lstStyle/>
          <a:p>
            <a:r>
              <a:rPr lang="fr-FR" altLang="zh-CN" b="1" dirty="0"/>
              <a:t>Visualisation </a:t>
            </a:r>
            <a:endParaRPr lang="zh-CN" altLang="en-US" b="1" dirty="0"/>
          </a:p>
        </p:txBody>
      </p:sp>
      <p:pic>
        <p:nvPicPr>
          <p:cNvPr id="5" name="图片 4" descr="卡通人物&#10;&#10;AI 生成的内容可能不正确。">
            <a:extLst>
              <a:ext uri="{FF2B5EF4-FFF2-40B4-BE49-F238E27FC236}">
                <a16:creationId xmlns:a16="http://schemas.microsoft.com/office/drawing/2014/main" id="{A953E273-CDA5-FEAB-8171-5BF4FA946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488" y="-5759"/>
            <a:ext cx="6898512" cy="6863759"/>
          </a:xfrm>
          <a:prstGeom prst="rect">
            <a:avLst/>
          </a:prstGeom>
        </p:spPr>
      </p:pic>
      <p:sp>
        <p:nvSpPr>
          <p:cNvPr id="6" name="内容占位符 2">
            <a:extLst>
              <a:ext uri="{FF2B5EF4-FFF2-40B4-BE49-F238E27FC236}">
                <a16:creationId xmlns:a16="http://schemas.microsoft.com/office/drawing/2014/main" id="{B8CDE806-FC50-34A3-44CA-F8D0E8103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55288" cy="4351338"/>
          </a:xfrm>
        </p:spPr>
        <p:txBody>
          <a:bodyPr/>
          <a:lstStyle/>
          <a:p>
            <a:r>
              <a:rPr lang="fr-FR" altLang="zh-CN" sz="2400" dirty="0"/>
              <a:t>Chaque point </a:t>
            </a:r>
            <a:r>
              <a:rPr lang="en-US" altLang="zh-CN" sz="2400" dirty="0" err="1"/>
              <a:t>représente</a:t>
            </a:r>
            <a:r>
              <a:rPr lang="fr-FR" altLang="zh-CN" sz="2400" dirty="0"/>
              <a:t> un article </a:t>
            </a:r>
          </a:p>
          <a:p>
            <a:r>
              <a:rPr lang="fr-FR" altLang="zh-CN" sz="2400" dirty="0"/>
              <a:t>Colorés selon leur(s) axe(s)</a:t>
            </a:r>
          </a:p>
          <a:p>
            <a:pPr lvl="1"/>
            <a:r>
              <a:rPr lang="fr-FR" altLang="zh-CN" sz="2000" dirty="0"/>
              <a:t>Si multi-label, les couleurs correspondantes sont superposées sur le même point</a:t>
            </a:r>
          </a:p>
          <a:p>
            <a:r>
              <a:rPr lang="fr-FR" altLang="zh-CN" sz="2400" dirty="0"/>
              <a:t>Force d’attraction selon la similarité entre les articles (w=0.3)</a:t>
            </a:r>
          </a:p>
          <a:p>
            <a:r>
              <a:rPr lang="fr-FR" altLang="zh-CN" sz="2400" dirty="0"/>
              <a:t>Force d’attraction selon l’appartenance à l’axe (w=0.1)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7997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371784-B16B-6A25-3FC1-8E6C503EC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zh-CN" b="1" dirty="0"/>
              <a:t>Perspective</a:t>
            </a:r>
            <a:r>
              <a:rPr lang="en-US" altLang="zh-CN" b="1" dirty="0"/>
              <a:t>s</a:t>
            </a:r>
            <a:r>
              <a:rPr lang="fr-FR" altLang="zh-CN" b="1" dirty="0"/>
              <a:t> 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4C2F18-1776-D903-4083-61177ED10D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altLang="zh-CN" dirty="0"/>
              <a:t>vérifier manuellement les prédictions des axes</a:t>
            </a:r>
          </a:p>
          <a:p>
            <a:r>
              <a:rPr lang="fr-FR" altLang="zh-CN" dirty="0"/>
              <a:t>étendre la base de données d’entraînement, afin d’améliorer la stabilité et la précision du modèle.</a:t>
            </a:r>
            <a:endParaRPr lang="zh-CN" altLang="zh-CN" dirty="0"/>
          </a:p>
          <a:p>
            <a:r>
              <a:rPr lang="fr-FR" altLang="zh-CN" dirty="0"/>
              <a:t>réaliser un topic modeling à l’intérieur de chaque axe, pour explorer les thèmes sémantiques spécifiques à chaque axe et analyser les liens thématiques entre les axes.</a:t>
            </a:r>
            <a:endParaRPr lang="zh-CN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82782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CD122-14E6-2942-149E-A1921D38D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7BFDC5B7-0469-FE37-72EC-DEED49B20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4315"/>
            <a:ext cx="10515600" cy="1325563"/>
          </a:xfrm>
        </p:spPr>
        <p:txBody>
          <a:bodyPr/>
          <a:lstStyle/>
          <a:p>
            <a:pPr algn="ctr"/>
            <a:r>
              <a:rPr lang="fr-FR" altLang="zh-CN" b="1" dirty="0"/>
              <a:t>Merci pour votre attention!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3699976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945</TotalTime>
  <Words>660</Words>
  <Application>Microsoft Office PowerPoint</Application>
  <PresentationFormat>宽屏</PresentationFormat>
  <Paragraphs>94</Paragraphs>
  <Slides>11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等线</vt:lpstr>
      <vt:lpstr>等线 Light</vt:lpstr>
      <vt:lpstr>Arial</vt:lpstr>
      <vt:lpstr>Office 主题​​</vt:lpstr>
      <vt:lpstr>Classification des axes thématique pour la production scientifique d’IRG</vt:lpstr>
      <vt:lpstr>Jeu de données </vt:lpstr>
      <vt:lpstr>Attentes:</vt:lpstr>
      <vt:lpstr>Traitement du texte</vt:lpstr>
      <vt:lpstr>Modèle MLP</vt:lpstr>
      <vt:lpstr>Premier résultat </vt:lpstr>
      <vt:lpstr>Modèle LR </vt:lpstr>
      <vt:lpstr>Résultat final : MLP pour les axes 1-3+LR pour l’axe 4 </vt:lpstr>
      <vt:lpstr>Visualisation </vt:lpstr>
      <vt:lpstr>Perspectives </vt:lpstr>
      <vt:lpstr>Merci pour votre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Ye LIU</dc:creator>
  <cp:lastModifiedBy>Ye LIU</cp:lastModifiedBy>
  <cp:revision>106</cp:revision>
  <dcterms:created xsi:type="dcterms:W3CDTF">2025-12-24T18:43:04Z</dcterms:created>
  <dcterms:modified xsi:type="dcterms:W3CDTF">2026-01-23T12:43:16Z</dcterms:modified>
</cp:coreProperties>
</file>